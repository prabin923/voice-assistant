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7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11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⬡ NEP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383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AI Voice Receptionist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9202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00D4AA"/>
                </a:solidFill>
              </a:rPr>
              <a:t>for Hotels &amp; Hospitality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514600"/>
            <a:ext cx="3383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A0B0"/>
                </a:solidFill>
              </a:rPr>
              <a:t>Intelligent 24/7 multilingual hotel reception
powered by generative AI, live inventory, and
autonomous booking.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822960"/>
            <a:ext cx="7498079" cy="10058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987552"/>
            <a:ext cx="50292" cy="67665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950976"/>
            <a:ext cx="72969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Group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280160"/>
            <a:ext cx="729691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Team Think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7498079" cy="16459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176272"/>
            <a:ext cx="50292" cy="131673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139696"/>
            <a:ext cx="72969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468880"/>
            <a:ext cx="7296911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Prabin Sharma
Nikesh Kumar Sah
Dhrub Narayan Yadav
Riyaj Khadka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840480"/>
            <a:ext cx="7498079" cy="10058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4005072"/>
            <a:ext cx="50292" cy="67665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3968496"/>
            <a:ext cx="72969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297680"/>
            <a:ext cx="729691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263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Innovation Project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Hotels get an always-on multilingual front desk.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What the project is, who it serves, and why it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50292" cy="108813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2821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One-sentence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A voice-first AI receptionist that answers guest questions, checks availability, and completes bookings without front-desk handoff.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0020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764792"/>
            <a:ext cx="50292" cy="1088136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72821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Hotels lose guest trust and bookings when staff are busy, offline, or unable to speak the guest's language.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19272"/>
            <a:ext cx="50292" cy="108813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8269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61188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StayNep combines speech, Gemini/OpenAI reasoning, hotel-specific knowledge, live inventory, and confirmations in one assistant.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15468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319272"/>
            <a:ext cx="50292" cy="108813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28269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Target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61188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Hotels, resorts, guesthouses, homestays, and travel operators that need affordable 24/7 guest service.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0" i="0">
                <a:solidFill>
                  <a:srgbClr val="00D4AA"/>
                </a:solidFill>
              </a:rPr>
              <a:t>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supported
languages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75488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0" i="0">
                <a:solidFill>
                  <a:srgbClr val="4A9EFF"/>
                </a:solidFill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303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guest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75488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0" i="0">
                <a:solidFill>
                  <a:srgbClr val="F5C542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303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routine handoff
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02 / 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Routine hotel service still depends on staff availability.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The pain is most visible during off-hours, peak season, and multilingual guest interactions.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14630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50292" cy="1133856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Off-hours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24505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Guests still expect answers after reception desks slow 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651760" cy="14630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810512"/>
            <a:ext cx="50292" cy="113385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773936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Language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103120"/>
            <a:ext cx="24505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International and domestic travelers may not share one service language.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651760" cy="14630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10512"/>
            <a:ext cx="50292" cy="113385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773936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Missed bookings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103120"/>
            <a:ext cx="24505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Slow replies turn high-intent inquiries into lost revenue.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651760" cy="14630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810512"/>
            <a:ext cx="50292" cy="113385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1773936"/>
            <a:ext cx="2450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Staff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103120"/>
            <a:ext cx="245059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Front desks repeat the same FAQ and booking tasks every 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375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Real-life example: a guest asks about room availability late at night, wants a reply in their own language, and expects confirmation immediately. A traditional front desk may need a callback; StayNep can continue the workflow in the same conversation.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03 / 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CUSTOMER DISCOVERY &amp; EMPATHY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</a:rPr>
              <a:t>The strongest signal is operational friction, not lack of websites.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Discovery focused on hotel owners, reception teams, guests, and tourism businesses.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50292" cy="108813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Hotel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"Hiring and retraining staff is expensive and inconsistent."
Need: lower routine service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810512"/>
            <a:ext cx="50292" cy="108813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7739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Reception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10312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"Peak-hour calls and repeated questions interrupt higher-value work."
Need: triage and automation.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10712"/>
            <a:ext cx="50292" cy="108813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3741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70332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"I want answers in my language without waiting for a person."
Need: instant, natural support.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24612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410712"/>
            <a:ext cx="50292" cy="1088136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3741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Tourism 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70332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"Slow inquiry follow-up can lose group bookings."
Need: faster conversion.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What we learned: guests do not want another static FAQ; hotels need an assistant that understands intent, checks real data, and knows when a human is truly required.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04 / 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A complete guest service workflow runs inside the conversation.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Voice input becomes action: answer, availability check, booking, dining reservation, cancellation, or escalation.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Guest speaks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Mic, phone, embed, or text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Transcript is sanitized and 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1496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Intent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Booking, dining, FAQ, or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Prisma inventory and hotel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84664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Streaming answer plus TTS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37560"/>
            <a:ext cx="3520440" cy="12344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502152"/>
            <a:ext cx="50292" cy="90525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465576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794760"/>
            <a:ext cx="3319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Guests get immediate service without waiting for reception.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337560"/>
            <a:ext cx="3520440" cy="12344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3502152"/>
            <a:ext cx="50292" cy="90525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3465576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Hotel benefit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794760"/>
            <a:ext cx="3319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Staff handle exceptions while AI handles routine volume.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337560"/>
            <a:ext cx="3520440" cy="12344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3502152"/>
            <a:ext cx="50292" cy="90525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9871" y="3465576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Proof in repo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1" y="3794760"/>
            <a:ext cx="3319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Booking, dining, RAG, guest auth, admin, and telephony routes are implemented.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05 / 18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INNOVATION &amp;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StayNep moves from 'chatbot' to autonomous receptionist.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The Blue Ocean is voice + multilingual hospitality context + live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2560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50292" cy="2231136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 Too: basic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3364992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Text-only FAQ
Scripted answers
No inventory awareness
No booking transaction
Weak language switching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45920"/>
            <a:ext cx="3566160" cy="2560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810512"/>
            <a:ext cx="50292" cy="223113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Traditional desk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03120"/>
            <a:ext cx="3364992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Human warmth
Limited hours
Single-location capacity
High recurring cost
Peak-hour overload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566160" cy="2560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10512"/>
            <a:ext cx="50292" cy="223113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Only Me: StayNep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103120"/>
            <a:ext cx="3364992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Voice-to-voice service
34-language support
Hotel-specific RAG
Autonomous booking/dining
FYI vs escalation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262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1">
                <a:solidFill>
                  <a:srgbClr val="8AA0B0"/>
                </a:solidFill>
              </a:rPr>
              <a:t>Competitive advantage: the assistant connects natural conversation to real hotel
operations, so it can complete service rather than only describe service.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06 / 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FEATURES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The product system covers guest, staff, and admin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Major capabilities visible in the application and codebase.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97480" cy="1143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50292" cy="81381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Voice-to-voice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2496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STT, streaming response, TTS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645920"/>
            <a:ext cx="2697480" cy="1143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810512"/>
            <a:ext cx="50292" cy="81381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773936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Autonomous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2103120"/>
            <a:ext cx="2496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create, modify, cancel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697480" cy="1143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810512"/>
            <a:ext cx="50292" cy="81381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73936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Live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103120"/>
            <a:ext cx="2496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availability and alternatives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416" y="1645920"/>
            <a:ext cx="2697480" cy="1143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3416" y="1810512"/>
            <a:ext cx="50292" cy="81381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773936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Dining reservations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103120"/>
            <a:ext cx="2496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venue, time, party 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2697480" cy="1143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90672"/>
            <a:ext cx="50292" cy="813816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054096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Guest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383280"/>
            <a:ext cx="2496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My Stay panel and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9272" y="2926080"/>
            <a:ext cx="2697480" cy="1143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3090672"/>
            <a:ext cx="50292" cy="81381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3864" y="3054096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Admin 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3864" y="3383280"/>
            <a:ext cx="2496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hotel config, FAQ, inventory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2926080"/>
            <a:ext cx="2697480" cy="1143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3090672"/>
            <a:ext cx="50292" cy="81381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3054096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Staff 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3383280"/>
            <a:ext cx="2496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FYI emails and urgent tickets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3416" y="2926080"/>
            <a:ext cx="2697480" cy="1143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3416" y="3090672"/>
            <a:ext cx="50292" cy="81381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8" y="3054096"/>
            <a:ext cx="24963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Embed/telephony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8" y="3383280"/>
            <a:ext cx="24963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web widget, Telnyx, WhatsApp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07 / 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AI is the reasoning layer that turns speech into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Without AI, the product becomes a static form plus FAQ.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Speech becomes validated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Intent, dates, room type,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Hotel facts and relevant knowledge chunks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7536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Book, answer, ask, or escalate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1737360"/>
            <a:ext cx="1965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94976" y="1828800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4976" y="20299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23317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Natural response in guest language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4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56432"/>
            <a:ext cx="50292" cy="108813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41985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functionality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74904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Gemini/OpenAI response engine, RAG augmentation, multilingual replies, booking-state reasoning, and escalation detection.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291840"/>
            <a:ext cx="5394960" cy="14173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456432"/>
            <a:ext cx="50292" cy="1088136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41985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If AI is removed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3749040"/>
            <a:ext cx="5193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The system loses natural language understanding, voice conversation, multilingual adaptability, and autonomous service decisions.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08 / 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The architecture is modern, typed, and deployment-ready.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Core technologies used by the current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17373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50292" cy="140817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336499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Next.js 16
React 19
TypeScript
Tailwind CSS v4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1645920"/>
            <a:ext cx="3566160" cy="17373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87952" y="1810512"/>
            <a:ext cx="50292" cy="140817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2103120"/>
            <a:ext cx="336499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App Router API routes
SSE streaming
Auth, rate limits
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18704" y="1645920"/>
            <a:ext cx="3566160" cy="17373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18704" y="1810512"/>
            <a:ext cx="50292" cy="140817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103120"/>
            <a:ext cx="336499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Prisma ORM
PostgreSQL / Prisma Postgres
Hotel, booking, guest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3566160" cy="17373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30752"/>
            <a:ext cx="50292" cy="140817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69417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023360"/>
            <a:ext cx="336499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Google Gemini
OpenAI fallback
RAG embeddings
Prompt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3566160"/>
            <a:ext cx="3566160" cy="17373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87952" y="3730752"/>
            <a:ext cx="50292" cy="140817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369417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Voice/APIs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4023360"/>
            <a:ext cx="336499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Nemotron/Whisper/Gemini STT
Edge/Nemotron/OpenAI TTS
Telnyx, WhatsApp, TingTing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18704" y="3566160"/>
            <a:ext cx="3566160" cy="17373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18704" y="3730752"/>
            <a:ext cx="50292" cy="140817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369417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4023360"/>
            <a:ext cx="3364992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Vercel
Edge-ready routes
Service health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09 / 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</a:rPr>
              <a:t>A subscription model converts hotel automation into recurring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Pricing can scale from small guesthouses to hotel groups.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27432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00D4AA"/>
                </a:solidFill>
              </a:rPr>
              <a:t>$49/mo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A0B0"/>
                </a:solidFill>
              </a:rPr>
              <a:t>Includes
• Small hotels
• 1–4 languages
• Core FAQ + voice
• Email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45920"/>
            <a:ext cx="3566160" cy="27432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Professional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F5C542"/>
                </a:solidFill>
              </a:rPr>
              <a:t>$149/mo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A0B0"/>
                </a:solidFill>
              </a:rPr>
              <a:t>Includes
• Mid-size hotels
• Booking + dining flows
• Analytics
• Priority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566160" cy="27432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8288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194560"/>
            <a:ext cx="3566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 i="0">
                <a:solidFill>
                  <a:srgbClr val="4A9EFF"/>
                </a:solidFill>
              </a:rP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4320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A0B0"/>
                </a:solidFill>
              </a:rPr>
              <a:t>Includes
• Hotel chains
• Custom integrations
• Telephony volume
• Dedicated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Future sustainability: subscriptions, setup fees, PMS/CRM integration packages, and usage-based telephony or message volume.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10 / 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MARKET &amp; COMPETITOR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Customers choose the option that combines availability, language, and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Simple comparison table across realistic alternatives.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920240" cy="41148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9164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Criteria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600200"/>
            <a:ext cx="2011680" cy="41148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169164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Human desk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1920240" cy="41148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69164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FAQ bot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2194560" cy="41148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9164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Generic AI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600200"/>
            <a:ext cx="2103120" cy="411480"/>
          </a:xfrm>
          <a:prstGeom prst="rect">
            <a:avLst/>
          </a:prstGeom>
          <a:solidFill>
            <a:srgbClr val="0D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6916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StayNep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11680"/>
            <a:ext cx="192024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103120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24/7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011680"/>
            <a:ext cx="201168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2103120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Limited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011680"/>
            <a:ext cx="192024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2103120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011680"/>
            <a:ext cx="219456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103120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2011680"/>
            <a:ext cx="2103120" cy="438912"/>
          </a:xfrm>
          <a:prstGeom prst="rect">
            <a:avLst/>
          </a:prstGeom>
          <a:solidFill>
            <a:srgbClr val="0A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2103120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50592"/>
            <a:ext cx="192024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542032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Voice support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450592"/>
            <a:ext cx="201168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0592" y="2542032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450592"/>
            <a:ext cx="192024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2542032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450592"/>
            <a:ext cx="219456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54203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Partial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450592"/>
            <a:ext cx="2103120" cy="438912"/>
          </a:xfrm>
          <a:prstGeom prst="rect">
            <a:avLst/>
          </a:prstGeom>
          <a:solidFill>
            <a:srgbClr val="0A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2542032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889504"/>
            <a:ext cx="192024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2980944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Hotel-specific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2889504"/>
            <a:ext cx="201168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0592" y="2980944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2889504"/>
            <a:ext cx="192024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2980944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Static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889504"/>
            <a:ext cx="219456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2980944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Manual setup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889504"/>
            <a:ext cx="2103120" cy="438912"/>
          </a:xfrm>
          <a:prstGeom prst="rect">
            <a:avLst/>
          </a:prstGeom>
          <a:solidFill>
            <a:srgbClr val="0A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2980944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Built 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28416"/>
            <a:ext cx="192024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3419856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Live booking action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3328416"/>
            <a:ext cx="201168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50592" y="3419856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Manual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3328416"/>
            <a:ext cx="192024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2272" y="3419856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328416"/>
            <a:ext cx="219456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3419856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328416"/>
            <a:ext cx="2103120" cy="438912"/>
          </a:xfrm>
          <a:prstGeom prst="rect">
            <a:avLst/>
          </a:prstGeom>
          <a:solidFill>
            <a:srgbClr val="0A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77072" y="3419856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67328"/>
            <a:ext cx="192024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385876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Multilingual scale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3767328"/>
            <a:ext cx="201168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50592" y="3858768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Limited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3767328"/>
            <a:ext cx="192024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62272" y="385876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Low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767328"/>
            <a:ext cx="2194560" cy="438912"/>
          </a:xfrm>
          <a:prstGeom prst="rect">
            <a:avLst/>
          </a:prstGeom>
          <a:solidFill>
            <a:srgbClr val="0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82512" y="3858768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Medium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3920" y="3767328"/>
            <a:ext cx="2103120" cy="438912"/>
          </a:xfrm>
          <a:prstGeom prst="rect">
            <a:avLst/>
          </a:prstGeom>
          <a:solidFill>
            <a:srgbClr val="0A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77072" y="385876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34 languages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206240"/>
            <a:ext cx="192024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4297680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Staff workload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77440" y="4206240"/>
            <a:ext cx="201168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50592" y="4297680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High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4206240"/>
            <a:ext cx="192024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62272" y="4297680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Medium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4206240"/>
            <a:ext cx="2194560" cy="438912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82512" y="4297680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Medium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03920" y="4206240"/>
            <a:ext cx="2103120" cy="438912"/>
          </a:xfrm>
          <a:prstGeom prst="rect">
            <a:avLst/>
          </a:prstGeom>
          <a:solidFill>
            <a:srgbClr val="0A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77072" y="4297680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Lower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5212080"/>
            <a:ext cx="5303520" cy="12344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6480" y="5376672"/>
            <a:ext cx="50292" cy="90525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91072" y="5340096"/>
            <a:ext cx="5102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91072" y="5669280"/>
            <a:ext cx="5102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Nepal's hotels and SMEs need affordable automation that feels local, multilingual, and operationally useful.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11 / 18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The project supports economic growth and digital innovation.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StayNep aligns most directly with SDG 8 and SDG 9.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26517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50292" cy="232257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SDG 8: Decent Work &amp; Economic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5193792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Reduces routine operational pressure.
Helps small hotels serve guests continuously.
Creates room for staff to focus on higher-value hospitality.
Supports tourism-driven business growth.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394960" cy="26517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10512"/>
            <a:ext cx="50292" cy="232257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7739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SDG 9: Industry, Innovation &amp;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103120"/>
            <a:ext cx="5193792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Applies generative AI to hospitality infrastructure.
Makes advanced automation accessible to SMEs.
Encourages local technology adoption.
Builds scalable digital service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8AA0B0"/>
                </a:solidFill>
              </a:rPr>
              <a:t>Impact: better guest service, stronger small-hotel competitiveness, and more efficient use of human staff.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12 / 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DEVELOPMENT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The project moved from concept to working product through staged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Timeline summary for the Innovation Fest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42032"/>
            <a:ext cx="11247120" cy="25400"/>
          </a:xfrm>
          <a:prstGeom prst="rect">
            <a:avLst/>
          </a:prstGeom>
          <a:solidFill>
            <a:srgbClr val="1A3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0837" y="2432304"/>
            <a:ext cx="219456" cy="21945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5077" y="20574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Week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077" y="2743200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A0B0"/>
                </a:solidFill>
              </a:rPr>
              <a:t>Problem
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7569" y="2432304"/>
            <a:ext cx="219456" cy="21945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1809" y="20574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4A9EFF"/>
                </a:solidFill>
              </a:rPr>
              <a:t>Week 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1809" y="2743200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A0B0"/>
                </a:solidFill>
              </a:rPr>
              <a:t>Research and
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4300" y="2432304"/>
            <a:ext cx="219456" cy="21945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8540" y="20574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5C542"/>
                </a:solidFill>
              </a:rPr>
              <a:t>Week 5-6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8540" y="2743200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A0B0"/>
                </a:solidFill>
              </a:rPr>
              <a:t>UI and app
shell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1032" y="2432304"/>
            <a:ext cx="219456" cy="21945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5272" y="20574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Week 7-9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5272" y="2743200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A0B0"/>
                </a:solidFill>
              </a:rPr>
              <a:t>Booking +
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77763" y="2432304"/>
            <a:ext cx="219456" cy="21945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2003" y="20574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4A9EFF"/>
                </a:solidFill>
              </a:rPr>
              <a:t>Week 10-11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2003" y="2743200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A0B0"/>
                </a:solidFill>
              </a:rPr>
              <a:t>AI + voice
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4494" y="2432304"/>
            <a:ext cx="219456" cy="21945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8734" y="20574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5C542"/>
                </a:solidFill>
              </a:rPr>
              <a:t>Week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8734" y="2743200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A0B0"/>
                </a:solidFill>
              </a:rPr>
              <a:t>Testing and
fixes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91226" y="2432304"/>
            <a:ext cx="219456" cy="21945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5466" y="20574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</a:rPr>
              <a:t>Week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5466" y="2743200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A0B0"/>
                </a:solidFill>
              </a:rPr>
              <a:t>Deployment
prep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29000"/>
            <a:ext cx="1078992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593592"/>
            <a:ext cx="50292" cy="95097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557016"/>
            <a:ext cx="10588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Milestones achieved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886200"/>
            <a:ext cx="1058875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Working voice assistant, autonomous booking flows, dining reservations, RAG knowledge, admin settings, analytics/support screens, guest auth, service health, and deployment configuration.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13 / 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CHALLENGES &amp;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</a:rPr>
              <a:t>The hard parts were reliability, context, and production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Each challenge led to an implementation improvement.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94960" cy="11887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50292" cy="859536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Speech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51937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Added multiple STT options, validation, and silence detection.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394960" cy="11887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10512"/>
            <a:ext cx="50292" cy="85953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7739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Hotel-specific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103120"/>
            <a:ext cx="51937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Built config-driven prompts and RAG knowledge chunks.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394960" cy="11887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36392"/>
            <a:ext cx="50292" cy="85953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09981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Booking conflicts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29000"/>
            <a:ext cx="51937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Used transactional booking service and alternative suggestions.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971800"/>
            <a:ext cx="5394960" cy="11887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136392"/>
            <a:ext cx="50292" cy="85953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09981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Escalation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429000"/>
            <a:ext cx="51937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Separated routine FYI notifications from urgent tickets.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5394960" cy="11887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62272"/>
            <a:ext cx="50292" cy="85953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42569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Multi-tenant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754880"/>
            <a:ext cx="51937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Introduced slug-based tenant routing and scoped config.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297680"/>
            <a:ext cx="5394960" cy="118872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62272"/>
            <a:ext cx="50292" cy="859536"/>
          </a:xfrm>
          <a:prstGeom prst="rect">
            <a:avLst/>
          </a:prstGeom>
          <a:solidFill>
            <a:srgbClr val="F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42569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Deployment readiness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754880"/>
            <a:ext cx="519379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Added env examples, health route, tests, and provider fallbacks.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14 / 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One more month would deepen integrations and reliability.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Roadmap from near-term demo polish to scalable product.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45920"/>
            <a:ext cx="201168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" y="17373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938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Demo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Seed data, offline video, QA 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4056" y="1645920"/>
            <a:ext cx="201168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7373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1938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WhatsApp + telephony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Production call flows and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6632" y="1645920"/>
            <a:ext cx="201168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7373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1938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PMS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Real hotel booking system connector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9208" y="1645920"/>
            <a:ext cx="201168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4" y="17373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4" y="1938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+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4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FAQ gap review and CSAT improvements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01784" y="1645920"/>
            <a:ext cx="201168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173736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938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 app + 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Guest memory, loyalty, IoT controls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46120"/>
            <a:ext cx="5394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10712"/>
            <a:ext cx="50292" cy="95097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3741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Scaling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703320"/>
            <a:ext cx="519379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Package the assistant as an embeddable widget plus managed onboarding for hotels.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246120"/>
            <a:ext cx="539496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410712"/>
            <a:ext cx="50292" cy="95097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374136"/>
            <a:ext cx="51937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More AI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3703320"/>
            <a:ext cx="519379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Voice personalisation, better multilingual evaluation, and smarter service recovery.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15 / 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</a:rPr>
              <a:t>The demo should prove the core workflow in under five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Show login only if needed; move quickly to voice, booking, and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92024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73736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93852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24028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Show branded hotel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645920"/>
            <a:ext cx="192024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173736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193852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Ask 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224028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Use voice or text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1645920"/>
            <a:ext cx="192024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73736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93852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Confirm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24028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Collect dates, room, name,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4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0064" y="1645920"/>
            <a:ext cx="192024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73736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193852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Show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24028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Booking card + confirmation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103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AA0B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74352" y="1645920"/>
            <a:ext cx="1920240" cy="128016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02368" y="173736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193852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Switch 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224028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8AA0B0"/>
                </a:solidFill>
              </a:rPr>
              <a:t>Repeat a simple guest question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46120"/>
            <a:ext cx="3520440" cy="12344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10712"/>
            <a:ext cx="50292" cy="90525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374136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features to show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703320"/>
            <a:ext cx="3319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Voice-to-text, streamed response, TTS, multilingual reply, RAG, hotel facts.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246120"/>
            <a:ext cx="3520440" cy="12344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3410712"/>
            <a:ext cx="50292" cy="90525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3374136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Operational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703320"/>
            <a:ext cx="3319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Live availability, booking confirmation, staff FYI, guest My Stay panel.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246120"/>
            <a:ext cx="3520440" cy="123444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3410712"/>
            <a:ext cx="50292" cy="90525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9871" y="3374136"/>
            <a:ext cx="33192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Demo backup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1" y="3703320"/>
            <a:ext cx="33192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Repeat sample demo steps, stable screen captures, and a short recorded backup.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16 / 18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IMPACT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StayNep creates measurable value for hotels and guests.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The project solves a real service bottleneck with a working technical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0" i="0">
                <a:solidFill>
                  <a:srgbClr val="00D4AA"/>
                </a:solidFill>
              </a:rPr>
              <a:t>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continuous guest
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2024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0" i="0">
                <a:solidFill>
                  <a:srgbClr val="4A9EFF"/>
                </a:solidFill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language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2024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0" i="0">
                <a:solidFill>
                  <a:srgbClr val="F5C542"/>
                </a:solidFill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inventory and
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0" i="0">
                <a:solidFill>
                  <a:srgbClr val="FF6B8A"/>
                </a:solidFill>
              </a:rPr>
              <a:t>FYI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not ticket spam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3566160" cy="132588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02152"/>
            <a:ext cx="50292" cy="99669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46557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 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794760"/>
            <a:ext cx="336499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Guests get answers and actions without waiting for reception.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337560"/>
            <a:ext cx="3566160" cy="132588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3502152"/>
            <a:ext cx="50292" cy="99669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346557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Value 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794760"/>
            <a:ext cx="336499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Hotels reduce routine workload and recover missed inquiries.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337560"/>
            <a:ext cx="3566160" cy="132588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3502152"/>
            <a:ext cx="50292" cy="99669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346557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Innovation achieved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3794760"/>
            <a:ext cx="336499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Voice AI is connected to real hospitality operations.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17 / 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00D4AA"/>
                </a:solidFill>
              </a:rPr>
              <a:t>FINAL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Every hotel deserves a receptionist that never sleeps.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A0B0"/>
                </a:solidFill>
              </a:rPr>
              <a:t>Why users should adopt it, and why investors should believe in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2286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10512"/>
            <a:ext cx="50292" cy="1956816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users 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3364992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Faster responses
Service in the guest's language
Booking without waiting
Consistent answers from hotel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566160" cy="2286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810512"/>
            <a:ext cx="50292" cy="1956816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hotels 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103120"/>
            <a:ext cx="3364992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Lower staff overload
More captured inquiries
Scalable front-desk capacity
Clear escalation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645920"/>
            <a:ext cx="3566160" cy="2286000"/>
          </a:xfrm>
          <a:prstGeom prst="rect">
            <a:avLst/>
          </a:prstGeom>
          <a:solidFill>
            <a:srgbClr val="0D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810512"/>
            <a:ext cx="50292" cy="1956816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1773936"/>
            <a:ext cx="33649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investors believe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2103120"/>
            <a:ext cx="3364992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AA0B0"/>
                </a:solidFill>
              </a:rPr>
              <a:t>Subscription revenue
Large hospitality SME market
Expandable integrations
Built product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8AA0B0"/>
                </a:solidFill>
              </a:rPr>
              <a:t>The future of hospitality is not only a person behind a desk. It is a service layer that is always available, multilingual, and connected to the hotel's real operations.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A0B0"/>
                </a:solidFill>
              </a:rPr>
              <a:t>Team Think  |  StayNep AI Voice Receptionist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8AA0B0"/>
                </a:solidFill>
              </a:rPr>
              <a:t>StayNep AI Voice Receptionist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A0B0"/>
                </a:solidFill>
              </a:rPr>
              <a:t>18 /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382512"/>
            <a:ext cx="11457432" cy="12700"/>
          </a:xfrm>
          <a:prstGeom prst="rect">
            <a:avLst/>
          </a:prstGeom>
          <a:solidFill>
            <a:srgbClr val="1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